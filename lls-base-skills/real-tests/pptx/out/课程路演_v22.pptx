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12428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E747B"/>
                </a:solidFill>
                <a:latin typeface="微软雅黑"/>
                <a:ea typeface="微软雅黑"/>
              </a:rPr>
              <a:t>刘老师系列 · 底座与场景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03320"/>
            <a:ext cx="2011680" cy="25603"/>
          </a:xfrm>
          <a:prstGeom prst="rect">
            <a:avLst/>
          </a:prstGeom>
          <a:solidFill>
            <a:srgbClr val="1F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1. 供给爆发、头部固化：位置红利属于先上架的人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332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428"/>
                </a:solidFill>
                <a:latin typeface="微软雅黑"/>
                <a:ea typeface="微软雅黑"/>
              </a:rPr>
              <a:t>31,940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技能总量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747B"/>
                </a:solidFill>
                <a:latin typeface="微软雅黑"/>
                <a:ea typeface="微软雅黑"/>
              </a:rPr>
              <a:t>仍在高速增长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2440" y="1417320"/>
            <a:ext cx="332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428"/>
                </a:solidFill>
                <a:latin typeface="微软雅黑"/>
                <a:ea typeface="微软雅黑"/>
              </a:rPr>
              <a:t>73%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2440" y="219456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头部 100 名使用量份额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2440" y="251460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747B"/>
                </a:solidFill>
                <a:latin typeface="微软雅黑"/>
                <a:ea typeface="微软雅黑"/>
              </a:rPr>
              <a:t>CR100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9080" y="1417320"/>
            <a:ext cx="332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428"/>
                </a:solidFill>
                <a:latin typeface="微软雅黑"/>
                <a:ea typeface="微软雅黑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19456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技能使用量不足 10 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251460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747B"/>
                </a:solidFill>
                <a:latin typeface="微软雅黑"/>
                <a:ea typeface="微软雅黑"/>
              </a:rPr>
              <a:t>长尾沉默区间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766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本页结论：位置红利属于先上架的人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453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来源：2026-10-26 市场全量普查（31,740 样本）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2. 底座先行：占住工具层，再开花场景层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全开源引擎（pypdf / openpyxl / python-pptx / python-docx），MIT 许可零搬运风险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中文字体回退链 + GBK 自动探测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写入后验证 / 公式重算 / 修订检测 / 缩略图总览全套工具链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lls- 前缀品牌矩阵，description 交叉引流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766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本页结论：先占工具层，再开花场景层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453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来源：引擎对比：anthropics/skills 19 个技能功能规格 clean-room 重写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3. 六大场景空位，逐一占位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62456"/>
            <a:ext cx="10881360" cy="658368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545336"/>
            <a:ext cx="146304" cy="146304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12428"/>
                </a:solidFill>
                <a:latin typeface="微软雅黑"/>
                <a:ea typeface="微软雅黑"/>
              </a:rPr>
              <a:t>发票报销管家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1732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163 个竞品合计仅 3.5 万次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41732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E747B"/>
                </a:solidFill>
                <a:latin typeface="微软雅黑"/>
                <a:ea typeface="微软雅黑"/>
              </a:rPr>
              <a:t>11 月中旬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417320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B7791F"/>
                </a:solidFill>
                <a:latin typeface="微软雅黑"/>
                <a:ea typeface="微软雅黑"/>
              </a:rPr>
              <a:t>研发中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03704"/>
            <a:ext cx="146304" cy="14630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07568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12428"/>
                </a:solidFill>
                <a:latin typeface="微软雅黑"/>
                <a:ea typeface="微软雅黑"/>
              </a:rPr>
              <a:t>简历面试工作台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075688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无场景王者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75688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E747B"/>
                </a:solidFill>
                <a:latin typeface="微软雅黑"/>
                <a:ea typeface="微软雅黑"/>
              </a:rPr>
              <a:t>12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075688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F855A"/>
                </a:solidFill>
                <a:latin typeface="微软雅黑"/>
                <a:ea typeface="微软雅黑"/>
              </a:rPr>
              <a:t>设计完成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79192"/>
            <a:ext cx="10881360" cy="658368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2862072"/>
            <a:ext cx="146304" cy="14630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734056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12428"/>
                </a:solidFill>
                <a:latin typeface="微软雅黑"/>
                <a:ea typeface="微软雅黑"/>
              </a:rPr>
              <a:t>论文排版规范器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734056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全市场仅 7 个技能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34056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E747B"/>
                </a:solidFill>
                <a:latin typeface="微软雅黑"/>
                <a:ea typeface="微软雅黑"/>
              </a:rPr>
              <a:t>12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734056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6CB0"/>
                </a:solidFill>
                <a:latin typeface="微软雅黑"/>
                <a:ea typeface="微软雅黑"/>
              </a:rPr>
              <a:t>需求冻结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3520440"/>
            <a:ext cx="146304" cy="146304"/>
          </a:xfrm>
          <a:prstGeom prst="ellipse">
            <a:avLst/>
          </a:pr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392424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12428"/>
                </a:solidFill>
                <a:latin typeface="微软雅黑"/>
                <a:ea typeface="微软雅黑"/>
              </a:rPr>
              <a:t>述职汇报教练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392424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头部仅 1.7 万次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392424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E747B"/>
                </a:solidFill>
                <a:latin typeface="微软雅黑"/>
                <a:ea typeface="微软雅黑"/>
              </a:rPr>
              <a:t>1 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392424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8F96"/>
                </a:solidFill>
                <a:latin typeface="微软雅黑"/>
                <a:ea typeface="微软雅黑"/>
              </a:rPr>
              <a:t>排队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95928"/>
            <a:ext cx="10881360" cy="658368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4178807"/>
            <a:ext cx="146304" cy="146304"/>
          </a:xfrm>
          <a:prstGeom prst="ellipse">
            <a:avLst/>
          </a:pr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050791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12428"/>
                </a:solidFill>
                <a:latin typeface="微软雅黑"/>
                <a:ea typeface="微软雅黑"/>
              </a:rPr>
              <a:t>合同风险审查官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050791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审查场景空位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050791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E747B"/>
                </a:solidFill>
                <a:latin typeface="微软雅黑"/>
                <a:ea typeface="微软雅黑"/>
              </a:rPr>
              <a:t>1 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050791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8F96"/>
                </a:solidFill>
                <a:latin typeface="微软雅黑"/>
                <a:ea typeface="微软雅黑"/>
              </a:rPr>
              <a:t>排队</a:t>
            </a:r>
          </a:p>
        </p:txBody>
      </p:sp>
      <p:sp>
        <p:nvSpPr>
          <p:cNvPr id="33" name="Oval 32"/>
          <p:cNvSpPr/>
          <p:nvPr/>
        </p:nvSpPr>
        <p:spPr>
          <a:xfrm>
            <a:off x="777240" y="4837175"/>
            <a:ext cx="146304" cy="146304"/>
          </a:xfrm>
          <a:prstGeom prst="ellipse">
            <a:avLst/>
          </a:pr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709159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12428"/>
                </a:solidFill>
                <a:latin typeface="微软雅黑"/>
                <a:ea typeface="微软雅黑"/>
              </a:rPr>
              <a:t>录音转纪要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709159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47 万次需求，头部弱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709159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E747B"/>
                </a:solidFill>
                <a:latin typeface="微软雅黑"/>
                <a:ea typeface="微软雅黑"/>
              </a:rPr>
              <a:t>2 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709159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8F96"/>
                </a:solidFill>
                <a:latin typeface="微软雅黑"/>
                <a:ea typeface="微软雅黑"/>
              </a:rPr>
              <a:t>排队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3766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本页结论：六大空位，逐一占位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2453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来源：分类供给普查 · 状态：研发中 → 排队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4. 安装只是开始，使用才是排序货币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1499616"/>
            <a:ext cx="6400800" cy="237744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91840" y="1499616"/>
            <a:ext cx="3712463" cy="237744"/>
          </a:xfrm>
          <a:prstGeom prst="rect">
            <a:avLst/>
          </a:prstGeom>
          <a:solidFill>
            <a:srgbClr val="1F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428"/>
                </a:solidFill>
                <a:latin typeface="微软雅黑"/>
                <a:ea typeface="微软雅黑"/>
              </a:rPr>
              <a:t>实名认证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428"/>
                </a:solidFill>
                <a:latin typeface="微软雅黑"/>
                <a:ea typeface="微软雅黑"/>
              </a:rPr>
              <a:t>58%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048255"/>
            <a:ext cx="6400800" cy="237744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2048255"/>
            <a:ext cx="2176272" cy="237744"/>
          </a:xfrm>
          <a:prstGeom prst="rect">
            <a:avLst/>
          </a:prstGeom>
          <a:solidFill>
            <a:srgbClr val="1F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428"/>
                </a:solidFill>
                <a:latin typeface="微软雅黑"/>
                <a:ea typeface="微软雅黑"/>
              </a:rPr>
              <a:t>提交首个技能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19659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428"/>
                </a:solidFill>
                <a:latin typeface="微软雅黑"/>
                <a:ea typeface="微软雅黑"/>
              </a:rPr>
              <a:t>34%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596896"/>
            <a:ext cx="6400800" cy="237744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596896"/>
            <a:ext cx="1344168" cy="237744"/>
          </a:xfrm>
          <a:prstGeom prst="rect">
            <a:avLst/>
          </a:prstGeom>
          <a:solidFill>
            <a:srgbClr val="1F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428"/>
                </a:solidFill>
                <a:latin typeface="微软雅黑"/>
                <a:ea typeface="微软雅黑"/>
              </a:rPr>
              <a:t>通过审核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514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428"/>
                </a:solidFill>
                <a:latin typeface="微软雅黑"/>
                <a:ea typeface="微软雅黑"/>
              </a:rPr>
              <a:t>21%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145535"/>
            <a:ext cx="6400800" cy="237744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3145535"/>
            <a:ext cx="576072" cy="237744"/>
          </a:xfrm>
          <a:prstGeom prst="rect">
            <a:avLst/>
          </a:prstGeom>
          <a:solidFill>
            <a:srgbClr val="1F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6323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428"/>
                </a:solidFill>
                <a:latin typeface="微软雅黑"/>
                <a:ea typeface="微软雅黑"/>
              </a:rPr>
              <a:t>完成付费配置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306323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428"/>
                </a:solidFill>
                <a:latin typeface="微软雅黑"/>
                <a:ea typeface="微软雅黑"/>
              </a:rPr>
              <a:t>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766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本页结论：课堂指令：装完立刻用一次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453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来源：转化率中位数 62.5%（头部 508 样本）· 口径：安装/使用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5. 收益模型：三线合流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课程|训练营+直播课|客单价×人数|62%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技能售卖|付费场景技能|买断+订阅|28%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咨询|企业定制|项目制|10%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12428"/>
                </a:solidFill>
                <a:latin typeface="微软雅黑"/>
                <a:ea typeface="微软雅黑"/>
              </a:rPr>
              <a:t>线路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6140" y="292608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12428"/>
                </a:solidFill>
                <a:latin typeface="微软雅黑"/>
                <a:ea typeface="微软雅黑"/>
              </a:rPr>
              <a:t>承载内容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92608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12428"/>
                </a:solidFill>
                <a:latin typeface="微软雅黑"/>
                <a:ea typeface="微软雅黑"/>
              </a:rPr>
              <a:t>变现方式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6820" y="292608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12428"/>
                </a:solidFill>
                <a:latin typeface="微软雅黑"/>
                <a:ea typeface="微软雅黑"/>
              </a:rPr>
              <a:t>占比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本页结论：底座是获客成本最低的入口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6. 今天起，每一周都有交付物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本周：四件套提交审核（lls-pdf 先行试水 48 小时）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11 月中旬：发票报销管家内测 + 学员回流数据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12 月：季度复盘，发布二期招募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长期：darwin 棘轮月度迭代，永远比三件套新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本页结论：每一周都有交付物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